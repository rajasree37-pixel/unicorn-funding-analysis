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ontserrat Bold" charset="1" panose="00000800000000000000"/>
      <p:regular r:id="rId20"/>
    </p:embeddedFont>
    <p:embeddedFont>
      <p:font typeface="DM Sans" charset="1" panose="00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Canva Sans" charset="1" panose="020B0503030501040103"/>
      <p:regular r:id="rId23"/>
    </p:embeddedFont>
    <p:embeddedFont>
      <p:font typeface="Bangers" charset="1" panose="00000500000000000000"/>
      <p:regular r:id="rId24"/>
    </p:embeddedFont>
    <p:embeddedFont>
      <p:font typeface="DM Sans Bold" charset="1" panose="00000000000000000000"/>
      <p:regular r:id="rId25"/>
    </p:embeddedFont>
    <p:embeddedFont>
      <p:font typeface="Amsterdam Two" charset="1" panose="02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4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73972" y="3778501"/>
            <a:ext cx="4785328" cy="5810001"/>
          </a:xfrm>
          <a:custGeom>
            <a:avLst/>
            <a:gdLst/>
            <a:ahLst/>
            <a:cxnLst/>
            <a:rect r="r" b="b" t="t" l="l"/>
            <a:pathLst>
              <a:path h="5810001" w="4785328">
                <a:moveTo>
                  <a:pt x="0" y="0"/>
                </a:moveTo>
                <a:lnTo>
                  <a:pt x="4785328" y="0"/>
                </a:lnTo>
                <a:lnTo>
                  <a:pt x="4785328" y="5810001"/>
                </a:lnTo>
                <a:lnTo>
                  <a:pt x="0" y="5810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08862" y="7715250"/>
            <a:ext cx="7870184" cy="1543050"/>
            <a:chOff x="0" y="0"/>
            <a:chExt cx="2072806" cy="406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806" cy="406400"/>
            </a:xfrm>
            <a:custGeom>
              <a:avLst/>
              <a:gdLst/>
              <a:ahLst/>
              <a:cxnLst/>
              <a:rect r="r" b="b" t="t" l="l"/>
              <a:pathLst>
                <a:path h="406400" w="2072806">
                  <a:moveTo>
                    <a:pt x="2072806" y="0"/>
                  </a:moveTo>
                  <a:lnTo>
                    <a:pt x="0" y="0"/>
                  </a:lnTo>
                  <a:lnTo>
                    <a:pt x="101600" y="203200"/>
                  </a:lnTo>
                  <a:lnTo>
                    <a:pt x="0" y="406400"/>
                  </a:lnTo>
                  <a:lnTo>
                    <a:pt x="2072806" y="406400"/>
                  </a:lnTo>
                  <a:lnTo>
                    <a:pt x="1971206" y="203200"/>
                  </a:lnTo>
                  <a:lnTo>
                    <a:pt x="2072806" y="0"/>
                  </a:lnTo>
                  <a:close/>
                </a:path>
              </a:pathLst>
            </a:custGeom>
            <a:solidFill>
              <a:srgbClr val="4B7229">
                <a:alpha val="5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88900" y="-47625"/>
              <a:ext cx="1895006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633766" y="2170528"/>
            <a:ext cx="11455112" cy="2665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0"/>
              </a:lnSpc>
            </a:pPr>
            <a:r>
              <a:rPr lang="en-US" sz="5086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Global Unicorn Startup Analysis: Identifying High-Success Countries &amp; Industries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3766" y="4920371"/>
            <a:ext cx="7791413" cy="438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2605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 Data Analytics Project using SQL and Excel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112477"/>
            <a:ext cx="5382575" cy="646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3"/>
              </a:lnSpc>
            </a:pPr>
            <a:r>
              <a:rPr lang="en-US" sz="3802" b="true">
                <a:solidFill>
                  <a:srgbClr val="4B72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Raja Sree Samala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6880" y="2130055"/>
            <a:ext cx="14914239" cy="6909541"/>
            <a:chOff x="0" y="0"/>
            <a:chExt cx="4477512" cy="20743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7512" cy="2074363"/>
            </a:xfrm>
            <a:custGeom>
              <a:avLst/>
              <a:gdLst/>
              <a:ahLst/>
              <a:cxnLst/>
              <a:rect r="r" b="b" t="t" l="l"/>
              <a:pathLst>
                <a:path h="2074363" w="4477512">
                  <a:moveTo>
                    <a:pt x="0" y="0"/>
                  </a:moveTo>
                  <a:lnTo>
                    <a:pt x="4477512" y="0"/>
                  </a:lnTo>
                  <a:lnTo>
                    <a:pt x="4477512" y="2074363"/>
                  </a:lnTo>
                  <a:lnTo>
                    <a:pt x="0" y="2074363"/>
                  </a:lnTo>
                  <a:close/>
                </a:path>
              </a:pathLst>
            </a:custGeom>
            <a:solidFill>
              <a:srgbClr val="689F38">
                <a:alpha val="94902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77512" cy="211246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309360" y="1242407"/>
            <a:ext cx="766928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4544" y="2612662"/>
            <a:ext cx="13865859" cy="5227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2"/>
              </a:lnSpc>
            </a:pPr>
            <a:r>
              <a:rPr lang="en-US" sz="2694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Business Question:</a:t>
            </a:r>
          </a:p>
          <a:p>
            <a:pPr algn="just" marL="581837" indent="-290919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Which countries have the  strongest  unicorn funding environments?</a:t>
            </a:r>
          </a:p>
          <a:p>
            <a:pPr algn="just" marL="581837" indent="-290919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Which industries attract the most investment in those countries?</a:t>
            </a:r>
          </a:p>
          <a:p>
            <a:pPr algn="just">
              <a:lnSpc>
                <a:spcPts val="3772"/>
              </a:lnSpc>
            </a:pPr>
          </a:p>
          <a:p>
            <a:pPr algn="just">
              <a:lnSpc>
                <a:spcPts val="3772"/>
              </a:lnSpc>
            </a:pPr>
            <a:r>
              <a:rPr lang="en-US" sz="2694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it matters:</a:t>
            </a:r>
          </a:p>
          <a:p>
            <a:pPr algn="just" marL="581837" indent="-290919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Founders need to know where to start their startup for best access to capital.</a:t>
            </a:r>
          </a:p>
          <a:p>
            <a:pPr algn="just" marL="581837" indent="-290919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Investors want to understand which geographic markets and sectors have the highest deal flow.</a:t>
            </a:r>
          </a:p>
          <a:p>
            <a:pPr algn="just" marL="581837" indent="-290919" lvl="1">
              <a:lnSpc>
                <a:spcPts val="3772"/>
              </a:lnSpc>
              <a:buFont typeface="Arial"/>
              <a:buChar char="•"/>
            </a:pPr>
            <a:r>
              <a:rPr lang="en-US" sz="2694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Understanding funding patterns helps predict where the next billion-dollar successes are most likely.</a:t>
            </a:r>
          </a:p>
          <a:p>
            <a:pPr algn="just">
              <a:lnSpc>
                <a:spcPts val="377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0212" y="2442676"/>
            <a:ext cx="3470273" cy="4606239"/>
            <a:chOff x="0" y="0"/>
            <a:chExt cx="1041836" cy="1382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1836" cy="1382872"/>
            </a:xfrm>
            <a:custGeom>
              <a:avLst/>
              <a:gdLst/>
              <a:ahLst/>
              <a:cxnLst/>
              <a:rect r="r" b="b" t="t" l="l"/>
              <a:pathLst>
                <a:path h="1382872" w="1041836">
                  <a:moveTo>
                    <a:pt x="0" y="0"/>
                  </a:moveTo>
                  <a:lnTo>
                    <a:pt x="1041836" y="0"/>
                  </a:lnTo>
                  <a:lnTo>
                    <a:pt x="1041836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1836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472130" y="6083630"/>
            <a:ext cx="1785082" cy="17850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91485" y="3728510"/>
            <a:ext cx="3484938" cy="4606239"/>
            <a:chOff x="0" y="0"/>
            <a:chExt cx="1046238" cy="13828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623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046238">
                  <a:moveTo>
                    <a:pt x="0" y="0"/>
                  </a:moveTo>
                  <a:lnTo>
                    <a:pt x="1046238" y="0"/>
                  </a:lnTo>
                  <a:lnTo>
                    <a:pt x="104623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4623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9291" y="7692147"/>
            <a:ext cx="1785082" cy="17850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57423" y="2442676"/>
            <a:ext cx="3484938" cy="4606239"/>
            <a:chOff x="0" y="0"/>
            <a:chExt cx="1046238" cy="1382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6238" cy="1382872"/>
            </a:xfrm>
            <a:custGeom>
              <a:avLst/>
              <a:gdLst/>
              <a:ahLst/>
              <a:cxnLst/>
              <a:rect r="r" b="b" t="t" l="l"/>
              <a:pathLst>
                <a:path h="1382872" w="1046238">
                  <a:moveTo>
                    <a:pt x="0" y="0"/>
                  </a:moveTo>
                  <a:lnTo>
                    <a:pt x="1046238" y="0"/>
                  </a:lnTo>
                  <a:lnTo>
                    <a:pt x="1046238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46238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8923" y="5955643"/>
            <a:ext cx="1785082" cy="17850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850129" y="6490862"/>
            <a:ext cx="667340" cy="700452"/>
          </a:xfrm>
          <a:custGeom>
            <a:avLst/>
            <a:gdLst/>
            <a:ahLst/>
            <a:cxnLst/>
            <a:rect r="r" b="b" t="t" l="l"/>
            <a:pathLst>
              <a:path h="700452" w="667340">
                <a:moveTo>
                  <a:pt x="0" y="0"/>
                </a:moveTo>
                <a:lnTo>
                  <a:pt x="667339" y="0"/>
                </a:lnTo>
                <a:lnTo>
                  <a:pt x="667339" y="700452"/>
                </a:lnTo>
                <a:lnTo>
                  <a:pt x="0" y="7004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323748" y="3798679"/>
            <a:ext cx="3460617" cy="4786009"/>
            <a:chOff x="0" y="0"/>
            <a:chExt cx="1038937" cy="14368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8937" cy="1436843"/>
            </a:xfrm>
            <a:custGeom>
              <a:avLst/>
              <a:gdLst/>
              <a:ahLst/>
              <a:cxnLst/>
              <a:rect r="r" b="b" t="t" l="l"/>
              <a:pathLst>
                <a:path h="143684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36843"/>
                  </a:lnTo>
                  <a:lnTo>
                    <a:pt x="0" y="1436843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38937" cy="147494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192973" y="7821645"/>
            <a:ext cx="1526085" cy="1526085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6651245" y="8319198"/>
            <a:ext cx="1261173" cy="536572"/>
          </a:xfrm>
          <a:custGeom>
            <a:avLst/>
            <a:gdLst/>
            <a:ahLst/>
            <a:cxnLst/>
            <a:rect r="r" b="b" t="t" l="l"/>
            <a:pathLst>
              <a:path h="536572" w="1261173">
                <a:moveTo>
                  <a:pt x="0" y="0"/>
                </a:moveTo>
                <a:lnTo>
                  <a:pt x="1261173" y="0"/>
                </a:lnTo>
                <a:lnTo>
                  <a:pt x="1261173" y="536572"/>
                </a:lnTo>
                <a:lnTo>
                  <a:pt x="0" y="5365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00666" y="8297727"/>
            <a:ext cx="710700" cy="658239"/>
          </a:xfrm>
          <a:custGeom>
            <a:avLst/>
            <a:gdLst/>
            <a:ahLst/>
            <a:cxnLst/>
            <a:rect r="r" b="b" t="t" l="l"/>
            <a:pathLst>
              <a:path h="658239" w="710700">
                <a:moveTo>
                  <a:pt x="0" y="0"/>
                </a:moveTo>
                <a:lnTo>
                  <a:pt x="710699" y="0"/>
                </a:lnTo>
                <a:lnTo>
                  <a:pt x="710699" y="658238"/>
                </a:lnTo>
                <a:lnTo>
                  <a:pt x="0" y="6582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77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2416403" y="749539"/>
            <a:ext cx="1205338" cy="1205338"/>
          </a:xfrm>
          <a:custGeom>
            <a:avLst/>
            <a:gdLst/>
            <a:ahLst/>
            <a:cxnLst/>
            <a:rect r="r" b="b" t="t" l="l"/>
            <a:pathLst>
              <a:path h="1205338" w="1205338">
                <a:moveTo>
                  <a:pt x="0" y="0"/>
                </a:moveTo>
                <a:lnTo>
                  <a:pt x="1205338" y="0"/>
                </a:lnTo>
                <a:lnTo>
                  <a:pt x="1205338" y="1205338"/>
                </a:lnTo>
                <a:lnTo>
                  <a:pt x="0" y="12053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882871" y="6519262"/>
            <a:ext cx="898864" cy="913818"/>
          </a:xfrm>
          <a:custGeom>
            <a:avLst/>
            <a:gdLst/>
            <a:ahLst/>
            <a:cxnLst/>
            <a:rect r="r" b="b" t="t" l="l"/>
            <a:pathLst>
              <a:path h="913818" w="898864">
                <a:moveTo>
                  <a:pt x="0" y="0"/>
                </a:moveTo>
                <a:lnTo>
                  <a:pt x="898864" y="0"/>
                </a:lnTo>
                <a:lnTo>
                  <a:pt x="898864" y="913818"/>
                </a:lnTo>
                <a:lnTo>
                  <a:pt x="0" y="91381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5883590" y="1242407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33260" y="3016989"/>
            <a:ext cx="246520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926626" y="3751054"/>
            <a:ext cx="3041214" cy="1700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4"/>
              </a:lnSpc>
            </a:pPr>
            <a:r>
              <a:rPr lang="en-US" sz="243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Kaggle - global unicorn companies dataset (startups valued at &gt;=1B USD)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12455" y="4206771"/>
            <a:ext cx="2842998" cy="81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Records and Global coverage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991553" y="5279286"/>
            <a:ext cx="2684802" cy="1884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1,037 unicorn companies in 46 countries across all continents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51194" y="2773515"/>
            <a:ext cx="2465209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Period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41398" y="3641304"/>
            <a:ext cx="2684802" cy="173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unicorns thhat reached unicorn status between 2007 and 2022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23411" y="4206771"/>
            <a:ext cx="2465209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fields used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23411" y="4951073"/>
            <a:ext cx="2684802" cy="278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Country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Industry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Year founded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year joined (unicorn year)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Total raised</a:t>
            </a:r>
          </a:p>
          <a:p>
            <a:pPr algn="l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Valuation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528583" y="8559934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2"/>
                </a:moveTo>
                <a:lnTo>
                  <a:pt x="2147582" y="2128512"/>
                </a:lnTo>
                <a:lnTo>
                  <a:pt x="2147582" y="0"/>
                </a:lnTo>
                <a:lnTo>
                  <a:pt x="0" y="0"/>
                </a:lnTo>
                <a:lnTo>
                  <a:pt x="0" y="2128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682936" y="2859442"/>
            <a:ext cx="15576364" cy="538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34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Tools Used: </a:t>
            </a:r>
            <a:r>
              <a:rPr lang="en-US" sz="34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MySQL (phpMyAdmin) for data cleaniing and aggregation, Excel for Pivot Tables and charts.</a:t>
            </a:r>
          </a:p>
          <a:p>
            <a:pPr algn="l">
              <a:lnSpc>
                <a:spcPts val="4776"/>
              </a:lnSpc>
            </a:pPr>
            <a:r>
              <a:rPr lang="en-US" sz="34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Cleaning: </a:t>
            </a:r>
            <a:r>
              <a:rPr lang="en-US" sz="34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Converted funding text  ($7.44B / $500M) into a numeric column in millions of USD using a CASE + REPLACE SQL update.</a:t>
            </a:r>
          </a:p>
          <a:p>
            <a:pPr algn="l">
              <a:lnSpc>
                <a:spcPts val="4776"/>
              </a:lnSpc>
            </a:pPr>
            <a:r>
              <a:rPr lang="en-US" sz="3412" b="true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Approach:</a:t>
            </a:r>
          </a:p>
          <a:p>
            <a:pPr algn="just" marL="736679" indent="-368340" lvl="1">
              <a:lnSpc>
                <a:spcPts val="4776"/>
              </a:lnSpc>
              <a:buFont typeface="Arial"/>
              <a:buChar char="•"/>
            </a:pPr>
            <a:r>
              <a:rPr lang="en-US" sz="34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Grouped unicorns by country</a:t>
            </a: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4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to find top 5 countries by total funding.</a:t>
            </a:r>
          </a:p>
          <a:p>
            <a:pPr algn="l" marL="736679" indent="-368340" lvl="1">
              <a:lnSpc>
                <a:spcPts val="4776"/>
              </a:lnSpc>
              <a:buFont typeface="Arial"/>
              <a:buChar char="•"/>
            </a:pPr>
            <a:r>
              <a:rPr lang="en-US" sz="34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For those countries, grouped by industry to calculate number of unicorns and total funding per industry. </a:t>
            </a:r>
          </a:p>
          <a:p>
            <a:pPr algn="l" marL="736679" indent="-368340" lvl="1">
              <a:lnSpc>
                <a:spcPts val="4776"/>
              </a:lnSpc>
              <a:buFont typeface="Arial"/>
              <a:buChar char="•"/>
            </a:pPr>
            <a:r>
              <a:rPr lang="en-US" sz="34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Exported results to Excel and built a pivot chart.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64662" y="2926117"/>
            <a:ext cx="583612" cy="562390"/>
          </a:xfrm>
          <a:custGeom>
            <a:avLst/>
            <a:gdLst/>
            <a:ahLst/>
            <a:cxnLst/>
            <a:rect r="r" b="b" t="t" l="l"/>
            <a:pathLst>
              <a:path h="562390" w="583612">
                <a:moveTo>
                  <a:pt x="0" y="0"/>
                </a:moveTo>
                <a:lnTo>
                  <a:pt x="583612" y="0"/>
                </a:lnTo>
                <a:lnTo>
                  <a:pt x="583612" y="562390"/>
                </a:lnTo>
                <a:lnTo>
                  <a:pt x="0" y="5623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8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09126" y="5267026"/>
            <a:ext cx="617247" cy="632189"/>
          </a:xfrm>
          <a:custGeom>
            <a:avLst/>
            <a:gdLst/>
            <a:ahLst/>
            <a:cxnLst/>
            <a:rect r="r" b="b" t="t" l="l"/>
            <a:pathLst>
              <a:path h="632189" w="617247">
                <a:moveTo>
                  <a:pt x="0" y="0"/>
                </a:moveTo>
                <a:lnTo>
                  <a:pt x="617246" y="0"/>
                </a:lnTo>
                <a:lnTo>
                  <a:pt x="617246" y="632189"/>
                </a:lnTo>
                <a:lnTo>
                  <a:pt x="0" y="6321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1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4662" y="3993217"/>
            <a:ext cx="694420" cy="769098"/>
          </a:xfrm>
          <a:custGeom>
            <a:avLst/>
            <a:gdLst/>
            <a:ahLst/>
            <a:cxnLst/>
            <a:rect r="r" b="b" t="t" l="l"/>
            <a:pathLst>
              <a:path h="769098" w="694420">
                <a:moveTo>
                  <a:pt x="0" y="0"/>
                </a:moveTo>
                <a:lnTo>
                  <a:pt x="694420" y="0"/>
                </a:lnTo>
                <a:lnTo>
                  <a:pt x="694420" y="769098"/>
                </a:lnTo>
                <a:lnTo>
                  <a:pt x="0" y="7690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83590" y="1242407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31636" y="1103953"/>
            <a:ext cx="1669243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 #1 - TOP 5 COUNTRIES BY TOTAL RAISED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468344" y="5889154"/>
            <a:ext cx="10355722" cy="2555800"/>
          </a:xfrm>
          <a:custGeom>
            <a:avLst/>
            <a:gdLst/>
            <a:ahLst/>
            <a:cxnLst/>
            <a:rect r="r" b="b" t="t" l="l"/>
            <a:pathLst>
              <a:path h="2555800" w="10355722">
                <a:moveTo>
                  <a:pt x="0" y="0"/>
                </a:moveTo>
                <a:lnTo>
                  <a:pt x="10355723" y="0"/>
                </a:lnTo>
                <a:lnTo>
                  <a:pt x="10355723" y="2555800"/>
                </a:lnTo>
                <a:lnTo>
                  <a:pt x="0" y="25558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52423" y="3497046"/>
            <a:ext cx="8450543" cy="1912874"/>
          </a:xfrm>
          <a:custGeom>
            <a:avLst/>
            <a:gdLst/>
            <a:ahLst/>
            <a:cxnLst/>
            <a:rect r="r" b="b" t="t" l="l"/>
            <a:pathLst>
              <a:path h="1912874" w="8450543">
                <a:moveTo>
                  <a:pt x="0" y="0"/>
                </a:moveTo>
                <a:lnTo>
                  <a:pt x="8450543" y="0"/>
                </a:lnTo>
                <a:lnTo>
                  <a:pt x="8450543" y="1912873"/>
                </a:lnTo>
                <a:lnTo>
                  <a:pt x="0" y="19128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41015" y="2380376"/>
            <a:ext cx="3738770" cy="871134"/>
          </a:xfrm>
          <a:custGeom>
            <a:avLst/>
            <a:gdLst/>
            <a:ahLst/>
            <a:cxnLst/>
            <a:rect r="r" b="b" t="t" l="l"/>
            <a:pathLst>
              <a:path h="871134" w="3738770">
                <a:moveTo>
                  <a:pt x="0" y="0"/>
                </a:moveTo>
                <a:lnTo>
                  <a:pt x="3738770" y="0"/>
                </a:lnTo>
                <a:lnTo>
                  <a:pt x="3738770" y="871133"/>
                </a:lnTo>
                <a:lnTo>
                  <a:pt x="0" y="871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23669" y="6231537"/>
            <a:ext cx="6573461" cy="273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8585" indent="-279292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The United States and China together account for around 66% of total unicorn funding in the dataset. </a:t>
            </a:r>
          </a:p>
          <a:p>
            <a:pPr algn="just" marL="558585" indent="-279292" lvl="1">
              <a:lnSpc>
                <a:spcPts val="3622"/>
              </a:lnSpc>
              <a:buFont typeface="Arial"/>
              <a:buChar char="•"/>
            </a:pPr>
            <a:r>
              <a:rPr lang="en-US" sz="2587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India, UK, and Germany emerge as secondary hubs with significant startup ecosystems.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5090" y="2519466"/>
            <a:ext cx="4510620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1B1B1B"/>
                </a:solidFill>
                <a:latin typeface="Bangers"/>
                <a:ea typeface="Bangers"/>
                <a:cs typeface="Bangers"/>
                <a:sym typeface="Bangers"/>
              </a:rPr>
              <a:t>SQL Query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520530" y="4453483"/>
            <a:ext cx="3738770" cy="871134"/>
          </a:xfrm>
          <a:custGeom>
            <a:avLst/>
            <a:gdLst/>
            <a:ahLst/>
            <a:cxnLst/>
            <a:rect r="r" b="b" t="t" l="l"/>
            <a:pathLst>
              <a:path h="871134" w="3738770">
                <a:moveTo>
                  <a:pt x="0" y="0"/>
                </a:moveTo>
                <a:lnTo>
                  <a:pt x="3738770" y="0"/>
                </a:lnTo>
                <a:lnTo>
                  <a:pt x="3738770" y="871133"/>
                </a:lnTo>
                <a:lnTo>
                  <a:pt x="0" y="8711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31595" y="4576475"/>
            <a:ext cx="1116639" cy="56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2"/>
              </a:lnSpc>
              <a:spcBef>
                <a:spcPct val="0"/>
              </a:spcBef>
            </a:pPr>
            <a:r>
              <a:rPr lang="en-US" sz="3237">
                <a:solidFill>
                  <a:srgbClr val="1B1B1B"/>
                </a:solidFill>
                <a:latin typeface="Bangers"/>
                <a:ea typeface="Bangers"/>
                <a:cs typeface="Bangers"/>
                <a:sym typeface="Bangers"/>
              </a:rPr>
              <a:t>Result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43960" y="8717914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6528583" y="-809906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49270" y="3032567"/>
            <a:ext cx="10357856" cy="6225733"/>
          </a:xfrm>
          <a:custGeom>
            <a:avLst/>
            <a:gdLst/>
            <a:ahLst/>
            <a:cxnLst/>
            <a:rect r="r" b="b" t="t" l="l"/>
            <a:pathLst>
              <a:path h="6225733" w="10357856">
                <a:moveTo>
                  <a:pt x="0" y="0"/>
                </a:moveTo>
                <a:lnTo>
                  <a:pt x="10357856" y="0"/>
                </a:lnTo>
                <a:lnTo>
                  <a:pt x="10357856" y="6225733"/>
                </a:lnTo>
                <a:lnTo>
                  <a:pt x="0" y="622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6145" y="952500"/>
            <a:ext cx="17895710" cy="137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5"/>
              </a:lnSpc>
            </a:pPr>
            <a:r>
              <a:rPr lang="en-US" b="true" sz="396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 #2 - TOP UNICORN INDUSTRIES BY FUNDING IN TOP </a:t>
            </a:r>
          </a:p>
          <a:p>
            <a:pPr algn="ctr">
              <a:lnSpc>
                <a:spcPts val="5545"/>
              </a:lnSpc>
            </a:pPr>
            <a:r>
              <a:rPr lang="en-US" b="true" sz="396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 COUNTRIES (MAIN VISUALIZATION)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0455" y="2975417"/>
            <a:ext cx="6768815" cy="4577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409" indent="-309704" lvl="1">
              <a:lnSpc>
                <a:spcPts val="4016"/>
              </a:lnSpc>
              <a:buFont typeface="Arial"/>
              <a:buChar char="•"/>
            </a:pPr>
            <a:r>
              <a:rPr lang="en-US" sz="2868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Fintech, Health and Internet software &amp; services lead in the United States.</a:t>
            </a:r>
          </a:p>
          <a:p>
            <a:pPr algn="l" marL="619409" indent="-309704" lvl="1">
              <a:lnSpc>
                <a:spcPts val="4016"/>
              </a:lnSpc>
              <a:buFont typeface="Arial"/>
              <a:buChar char="•"/>
            </a:pPr>
            <a:r>
              <a:rPr lang="en-US" sz="2868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E-commerce and direct-to-consumer emerges as the top funded industry in India and Germany.</a:t>
            </a:r>
          </a:p>
          <a:p>
            <a:pPr algn="l" marL="642349" indent="-321175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China and UK shows unique success in Aritificial Intelligence.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397529" y="8347556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2638920"/>
                </a:moveTo>
                <a:lnTo>
                  <a:pt x="3230536" y="2638920"/>
                </a:lnTo>
                <a:lnTo>
                  <a:pt x="3230536" y="0"/>
                </a:lnTo>
                <a:lnTo>
                  <a:pt x="0" y="0"/>
                </a:lnTo>
                <a:lnTo>
                  <a:pt x="0" y="26389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-408495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38746" y="3907006"/>
            <a:ext cx="6620358" cy="4959770"/>
          </a:xfrm>
          <a:custGeom>
            <a:avLst/>
            <a:gdLst/>
            <a:ahLst/>
            <a:cxnLst/>
            <a:rect r="r" b="b" t="t" l="l"/>
            <a:pathLst>
              <a:path h="4959770" w="6620358">
                <a:moveTo>
                  <a:pt x="0" y="0"/>
                </a:moveTo>
                <a:lnTo>
                  <a:pt x="6620358" y="0"/>
                </a:lnTo>
                <a:lnTo>
                  <a:pt x="6620358" y="4959769"/>
                </a:lnTo>
                <a:lnTo>
                  <a:pt x="0" y="4959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35776" y="3907006"/>
            <a:ext cx="6281500" cy="5351294"/>
          </a:xfrm>
          <a:custGeom>
            <a:avLst/>
            <a:gdLst/>
            <a:ahLst/>
            <a:cxnLst/>
            <a:rect r="r" b="b" t="t" l="l"/>
            <a:pathLst>
              <a:path h="5351294" w="6281500">
                <a:moveTo>
                  <a:pt x="0" y="0"/>
                </a:moveTo>
                <a:lnTo>
                  <a:pt x="6281500" y="0"/>
                </a:lnTo>
                <a:lnTo>
                  <a:pt x="6281500" y="5351294"/>
                </a:lnTo>
                <a:lnTo>
                  <a:pt x="0" y="53512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41726" y="2979038"/>
            <a:ext cx="11734800" cy="58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Funding Distribution by Industry Within Top 5 Industries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99932" y="1104900"/>
            <a:ext cx="7192936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INDUSTRY BREAKDOWN (DETAILED TABLE)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397529" y="8347556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2638920"/>
                </a:moveTo>
                <a:lnTo>
                  <a:pt x="3230536" y="2638920"/>
                </a:lnTo>
                <a:lnTo>
                  <a:pt x="3230536" y="0"/>
                </a:lnTo>
                <a:lnTo>
                  <a:pt x="0" y="0"/>
                </a:lnTo>
                <a:lnTo>
                  <a:pt x="0" y="26389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3230" y="-408495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8594" y="4011513"/>
            <a:ext cx="6804629" cy="5655503"/>
          </a:xfrm>
          <a:custGeom>
            <a:avLst/>
            <a:gdLst/>
            <a:ahLst/>
            <a:cxnLst/>
            <a:rect r="r" b="b" t="t" l="l"/>
            <a:pathLst>
              <a:path h="5655503" w="6804629">
                <a:moveTo>
                  <a:pt x="0" y="0"/>
                </a:moveTo>
                <a:lnTo>
                  <a:pt x="6804629" y="0"/>
                </a:lnTo>
                <a:lnTo>
                  <a:pt x="6804629" y="5655503"/>
                </a:lnTo>
                <a:lnTo>
                  <a:pt x="0" y="56555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547532" y="952500"/>
            <a:ext cx="7192936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INDUSTRY BREAKDOWN (DETAILED TABLE)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31292"/>
            <a:ext cx="11734800" cy="58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Funding Distribution by Industry Within Top 5 Industries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93223" y="5298290"/>
            <a:ext cx="9408286" cy="204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41" indent="-313071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Consumer platforms (e-commerce, fintech) attract consistent funding across all top countries, while AI and Health Tech sho regional variation.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528583" y="-229501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3960" y="8609717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082942"/>
            <a:ext cx="9944100" cy="58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Founders - Choose Your Market by Industry: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166869"/>
            <a:ext cx="15775193" cy="417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United States diminates overall (301 unicorns, fintech leads with 108) - 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best for consumer tech, fintech, and software-as-a-service. 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China excels in e-commerce &amp; direct-to-consumer (29 unicorns) and AI (52 unicorns) - 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prioritize if building consumer platforms or AI products.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India emerging strong in fintech (14) and e-commerce (16) - 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lowest capital requirements but fastest-growing market.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Germany focuses on secialized tech: 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E-commerce (15), fintech (5), and AI (4) - niche but quality funding.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69113" y="1133202"/>
            <a:ext cx="8349774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 AND STRATEGIC IMPLICATIONS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528583" y="-229501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3960" y="8609717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4165302"/>
            <a:ext cx="15775193" cy="2076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Fintech is globally consistent (top 3 in US, India, UK)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 - proven scalable model.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E-commerce &amp; direct-to-consumer dominate China and India - 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Asia-Pacific consumer boom. 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AI is emerging fast 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(52 in China, growing in US) - future frontier.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969113" y="1133202"/>
            <a:ext cx="8349774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 AND STRATEGIC IMPLICATIONS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37545"/>
            <a:ext cx="6515100" cy="58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Investors - Industry Trends: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679902"/>
            <a:ext cx="5257800" cy="58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6"/>
              </a:lnSpc>
              <a:spcBef>
                <a:spcPct val="0"/>
              </a:spcBef>
            </a:pP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Market-Specific strategy: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709227"/>
            <a:ext cx="16097101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Start in</a:t>
            </a: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 US/China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 for largest capita; pools: pivot to </a:t>
            </a:r>
            <a:r>
              <a:rPr lang="en-US" b="true" sz="2999">
                <a:solidFill>
                  <a:srgbClr val="1B1B1B"/>
                </a:solidFill>
                <a:latin typeface="DM Sans Bold"/>
                <a:ea typeface="DM Sans Bold"/>
                <a:cs typeface="DM Sans Bold"/>
                <a:sym typeface="DM Sans Bold"/>
              </a:rPr>
              <a:t>India</a:t>
            </a:r>
            <a:r>
              <a:rPr lang="en-US" sz="299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 for cost efficiency and growth.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8002" y="1797958"/>
            <a:ext cx="819199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AND CAVEATS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895755" y="4839172"/>
            <a:ext cx="49649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67" indent="-248284" lvl="1">
              <a:lnSpc>
                <a:spcPts val="3219"/>
              </a:lnSpc>
              <a:buFont typeface="Arial"/>
              <a:buChar char="•"/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42631"/>
            <a:ext cx="15968021" cy="371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Data represents only </a:t>
            </a:r>
            <a:r>
              <a:rPr lang="en-US" b="true" sz="30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unicorns</a:t>
            </a: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(companies already valued at $1B+), not all startups—survivorship bias exists.</a:t>
            </a:r>
          </a:p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Funding amounts are </a:t>
            </a:r>
            <a:r>
              <a:rPr lang="en-US" b="true" sz="30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aggregated total raised,</a:t>
            </a: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 not first-round or timing-adjusted.</a:t>
            </a:r>
          </a:p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Company headquarters location may not reflect actual investor geography or market dynamics.</a:t>
            </a:r>
          </a:p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Dataset snapshot: represents unicorns as of a specific date (not continuously updated).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8002" y="1161688"/>
            <a:ext cx="819199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NEXT STEPS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1279" y="3029258"/>
            <a:ext cx="15968021" cy="2114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This analysis reveals that unicorn funding is concentrated in the United States, China, and emerging hubs like India and Germany.</a:t>
            </a:r>
          </a:p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Industry choice matters: consumer tech dominates globally, but regional preferences vary.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346206"/>
            <a:ext cx="5491533" cy="58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  <a:spcBef>
                <a:spcPct val="0"/>
              </a:spcBef>
            </a:pP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Summary: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619750"/>
            <a:ext cx="5491533" cy="580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  <a:spcBef>
                <a:spcPct val="0"/>
              </a:spcBef>
            </a:pPr>
            <a:r>
              <a:rPr lang="en-US" b="true" sz="3412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Research: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1279" y="6513240"/>
            <a:ext cx="15968021" cy="3181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Analyze success rate by industry and country (which sectors actually exit profitably?).</a:t>
            </a:r>
          </a:p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Track funding round trends over time (do newer unicorns raise faster?).</a:t>
            </a:r>
          </a:p>
          <a:p>
            <a:pPr algn="just" marL="650322" indent="-325161" lvl="1">
              <a:lnSpc>
                <a:spcPts val="4216"/>
              </a:lnSpc>
              <a:buFont typeface="Arial"/>
              <a:buChar char="•"/>
            </a:pPr>
            <a:r>
              <a:rPr lang="en-US" sz="3012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Study post-unicorn performance (do larger funding amounts correlate with higher valuations?).</a:t>
            </a:r>
          </a:p>
          <a:p>
            <a:pPr algn="just">
              <a:lnSpc>
                <a:spcPts val="4216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8002" y="1161688"/>
            <a:ext cx="8191996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TAKEAWAY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61786" y="3149350"/>
            <a:ext cx="14564429" cy="2646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3"/>
              </a:lnSpc>
              <a:spcBef>
                <a:spcPct val="0"/>
              </a:spcBef>
            </a:pPr>
            <a:r>
              <a:rPr lang="en-US" b="true" sz="3781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"Data-driven decisions help f</a:t>
            </a:r>
            <a:r>
              <a:rPr lang="en-US" b="true" sz="3781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ounders choose ecosystems and industries where capital is flowing—and success is most likely."</a:t>
            </a:r>
          </a:p>
          <a:p>
            <a:pPr algn="ctr">
              <a:lnSpc>
                <a:spcPts val="529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094185" y="8374945"/>
            <a:ext cx="7823501" cy="1025092"/>
            <a:chOff x="0" y="0"/>
            <a:chExt cx="1459603" cy="1912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10" y="0"/>
              <a:ext cx="1453293" cy="191248"/>
            </a:xfrm>
            <a:custGeom>
              <a:avLst/>
              <a:gdLst/>
              <a:ahLst/>
              <a:cxnLst/>
              <a:rect r="r" b="b" t="t" l="l"/>
              <a:pathLst>
                <a:path h="191248" w="1453293">
                  <a:moveTo>
                    <a:pt x="1409519" y="0"/>
                  </a:moveTo>
                  <a:lnTo>
                    <a:pt x="173435" y="0"/>
                  </a:lnTo>
                  <a:cubicBezTo>
                    <a:pt x="166340" y="0"/>
                    <a:pt x="159366" y="1837"/>
                    <a:pt x="153192" y="5332"/>
                  </a:cubicBezTo>
                  <a:lnTo>
                    <a:pt x="3109" y="90292"/>
                  </a:lnTo>
                  <a:cubicBezTo>
                    <a:pt x="1188" y="91380"/>
                    <a:pt x="0" y="93416"/>
                    <a:pt x="0" y="95624"/>
                  </a:cubicBezTo>
                  <a:cubicBezTo>
                    <a:pt x="0" y="97832"/>
                    <a:pt x="1188" y="99868"/>
                    <a:pt x="3109" y="100956"/>
                  </a:cubicBezTo>
                  <a:lnTo>
                    <a:pt x="153192" y="185916"/>
                  </a:lnTo>
                  <a:cubicBezTo>
                    <a:pt x="159366" y="189411"/>
                    <a:pt x="166340" y="191248"/>
                    <a:pt x="173435" y="191248"/>
                  </a:cubicBezTo>
                  <a:lnTo>
                    <a:pt x="1409519" y="191248"/>
                  </a:lnTo>
                  <a:cubicBezTo>
                    <a:pt x="1409519" y="191248"/>
                    <a:pt x="1453293" y="162995"/>
                    <a:pt x="1453293" y="95624"/>
                  </a:cubicBezTo>
                  <a:cubicBezTo>
                    <a:pt x="1453293" y="28253"/>
                    <a:pt x="1409519" y="0"/>
                    <a:pt x="1409519" y="0"/>
                  </a:cubicBezTo>
                  <a:close/>
                </a:path>
              </a:pathLst>
            </a:custGeom>
            <a:solidFill>
              <a:srgbClr val="4B7229">
                <a:alpha val="65882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84150" y="-47625"/>
              <a:ext cx="1231003" cy="238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275290" y="8625270"/>
            <a:ext cx="615019" cy="524444"/>
          </a:xfrm>
          <a:custGeom>
            <a:avLst/>
            <a:gdLst/>
            <a:ahLst/>
            <a:cxnLst/>
            <a:rect r="r" b="b" t="t" l="l"/>
            <a:pathLst>
              <a:path h="524444" w="615019">
                <a:moveTo>
                  <a:pt x="0" y="0"/>
                </a:moveTo>
                <a:lnTo>
                  <a:pt x="615019" y="0"/>
                </a:lnTo>
                <a:lnTo>
                  <a:pt x="615019" y="524443"/>
                </a:lnTo>
                <a:lnTo>
                  <a:pt x="0" y="5244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094185" y="8132336"/>
            <a:ext cx="356533" cy="35653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94902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6551" y="1563374"/>
            <a:ext cx="1115302" cy="111530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94902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15277" y="790221"/>
            <a:ext cx="773153" cy="77315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68627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3262" y="2678676"/>
            <a:ext cx="386577" cy="3865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37647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78237" y="9620238"/>
            <a:ext cx="370808" cy="37080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62745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833751" y="9897208"/>
            <a:ext cx="812588" cy="779584"/>
            <a:chOff x="0" y="0"/>
            <a:chExt cx="812800" cy="7797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779787"/>
            </a:xfrm>
            <a:custGeom>
              <a:avLst/>
              <a:gdLst/>
              <a:ahLst/>
              <a:cxnLst/>
              <a:rect r="r" b="b" t="t" l="l"/>
              <a:pathLst>
                <a:path h="779787" w="812800">
                  <a:moveTo>
                    <a:pt x="406400" y="0"/>
                  </a:moveTo>
                  <a:cubicBezTo>
                    <a:pt x="181951" y="0"/>
                    <a:pt x="0" y="174561"/>
                    <a:pt x="0" y="389894"/>
                  </a:cubicBezTo>
                  <a:cubicBezTo>
                    <a:pt x="0" y="605226"/>
                    <a:pt x="181951" y="779787"/>
                    <a:pt x="406400" y="779787"/>
                  </a:cubicBezTo>
                  <a:cubicBezTo>
                    <a:pt x="630849" y="779787"/>
                    <a:pt x="812800" y="605226"/>
                    <a:pt x="812800" y="389894"/>
                  </a:cubicBezTo>
                  <a:cubicBezTo>
                    <a:pt x="812800" y="17456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62745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5480"/>
              <a:ext cx="660400" cy="68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359932" y="-363110"/>
            <a:ext cx="812588" cy="779584"/>
            <a:chOff x="0" y="0"/>
            <a:chExt cx="812800" cy="77978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779787"/>
            </a:xfrm>
            <a:custGeom>
              <a:avLst/>
              <a:gdLst/>
              <a:ahLst/>
              <a:cxnLst/>
              <a:rect r="r" b="b" t="t" l="l"/>
              <a:pathLst>
                <a:path h="779787" w="812800">
                  <a:moveTo>
                    <a:pt x="406400" y="0"/>
                  </a:moveTo>
                  <a:cubicBezTo>
                    <a:pt x="181951" y="0"/>
                    <a:pt x="0" y="174561"/>
                    <a:pt x="0" y="389894"/>
                  </a:cubicBezTo>
                  <a:cubicBezTo>
                    <a:pt x="0" y="605226"/>
                    <a:pt x="181951" y="779787"/>
                    <a:pt x="406400" y="779787"/>
                  </a:cubicBezTo>
                  <a:cubicBezTo>
                    <a:pt x="630849" y="779787"/>
                    <a:pt x="812800" y="605226"/>
                    <a:pt x="812800" y="389894"/>
                  </a:cubicBezTo>
                  <a:cubicBezTo>
                    <a:pt x="812800" y="17456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62745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5480"/>
              <a:ext cx="660400" cy="681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7730349" y="6691641"/>
            <a:ext cx="1115302" cy="1115302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7229">
                <a:alpha val="94902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>
            <a:off x="493262" y="397424"/>
            <a:ext cx="6492240" cy="0"/>
          </a:xfrm>
          <a:prstGeom prst="line">
            <a:avLst/>
          </a:prstGeom>
          <a:ln cap="flat" w="38100">
            <a:solidFill>
              <a:srgbClr val="4B722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-10800000">
            <a:off x="2627218" y="664251"/>
            <a:ext cx="6182605" cy="1025092"/>
            <a:chOff x="0" y="0"/>
            <a:chExt cx="1153467" cy="1912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7985" y="0"/>
              <a:ext cx="1145482" cy="191248"/>
            </a:xfrm>
            <a:custGeom>
              <a:avLst/>
              <a:gdLst/>
              <a:ahLst/>
              <a:cxnLst/>
              <a:rect r="r" b="b" t="t" l="l"/>
              <a:pathLst>
                <a:path h="191248" w="1145482">
                  <a:moveTo>
                    <a:pt x="1101708" y="0"/>
                  </a:moveTo>
                  <a:lnTo>
                    <a:pt x="174632" y="0"/>
                  </a:lnTo>
                  <a:cubicBezTo>
                    <a:pt x="165655" y="0"/>
                    <a:pt x="156830" y="2324"/>
                    <a:pt x="149018" y="6747"/>
                  </a:cubicBezTo>
                  <a:lnTo>
                    <a:pt x="3934" y="88877"/>
                  </a:lnTo>
                  <a:cubicBezTo>
                    <a:pt x="1503" y="90253"/>
                    <a:pt x="0" y="92831"/>
                    <a:pt x="0" y="95624"/>
                  </a:cubicBezTo>
                  <a:cubicBezTo>
                    <a:pt x="0" y="98417"/>
                    <a:pt x="1503" y="100995"/>
                    <a:pt x="3934" y="102371"/>
                  </a:cubicBezTo>
                  <a:lnTo>
                    <a:pt x="149018" y="184501"/>
                  </a:lnTo>
                  <a:cubicBezTo>
                    <a:pt x="156830" y="188923"/>
                    <a:pt x="165655" y="191248"/>
                    <a:pt x="174632" y="191248"/>
                  </a:cubicBezTo>
                  <a:lnTo>
                    <a:pt x="1101708" y="191248"/>
                  </a:lnTo>
                  <a:cubicBezTo>
                    <a:pt x="1101708" y="191248"/>
                    <a:pt x="1145482" y="162995"/>
                    <a:pt x="1145482" y="95624"/>
                  </a:cubicBezTo>
                  <a:cubicBezTo>
                    <a:pt x="1145482" y="28253"/>
                    <a:pt x="1101708" y="0"/>
                    <a:pt x="1101708" y="0"/>
                  </a:cubicBezTo>
                  <a:close/>
                </a:path>
              </a:pathLst>
            </a:custGeom>
            <a:solidFill>
              <a:srgbClr val="4B7229">
                <a:alpha val="65882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184150" y="-47625"/>
              <a:ext cx="924867" cy="2388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AutoShape 36" id="36"/>
          <p:cNvSpPr/>
          <p:nvPr/>
        </p:nvSpPr>
        <p:spPr>
          <a:xfrm>
            <a:off x="9144000" y="9991047"/>
            <a:ext cx="6492240" cy="0"/>
          </a:xfrm>
          <a:prstGeom prst="line">
            <a:avLst/>
          </a:prstGeom>
          <a:ln cap="flat" w="38100">
            <a:solidFill>
              <a:srgbClr val="4B7229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-2399917">
            <a:off x="994701" y="9615510"/>
            <a:ext cx="1765586" cy="1797228"/>
            <a:chOff x="0" y="0"/>
            <a:chExt cx="465010" cy="4733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65010" cy="473344"/>
            </a:xfrm>
            <a:custGeom>
              <a:avLst/>
              <a:gdLst/>
              <a:ahLst/>
              <a:cxnLst/>
              <a:rect r="r" b="b" t="t" l="l"/>
              <a:pathLst>
                <a:path h="473344" w="465010">
                  <a:moveTo>
                    <a:pt x="0" y="0"/>
                  </a:moveTo>
                  <a:lnTo>
                    <a:pt x="465010" y="0"/>
                  </a:lnTo>
                  <a:lnTo>
                    <a:pt x="465010" y="473344"/>
                  </a:lnTo>
                  <a:lnTo>
                    <a:pt x="0" y="473344"/>
                  </a:lnTo>
                  <a:close/>
                </a:path>
              </a:pathLst>
            </a:custGeom>
            <a:solidFill>
              <a:srgbClr val="4B7229">
                <a:alpha val="89804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465010" cy="520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2928068" y="880049"/>
            <a:ext cx="662386" cy="593498"/>
          </a:xfrm>
          <a:custGeom>
            <a:avLst/>
            <a:gdLst/>
            <a:ahLst/>
            <a:cxnLst/>
            <a:rect r="r" b="b" t="t" l="l"/>
            <a:pathLst>
              <a:path h="593498" w="662386">
                <a:moveTo>
                  <a:pt x="0" y="0"/>
                </a:moveTo>
                <a:lnTo>
                  <a:pt x="662386" y="0"/>
                </a:lnTo>
                <a:lnTo>
                  <a:pt x="662386" y="593498"/>
                </a:lnTo>
                <a:lnTo>
                  <a:pt x="0" y="5934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928068" y="3791363"/>
            <a:ext cx="12431865" cy="135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7"/>
              </a:lnSpc>
            </a:pPr>
            <a:r>
              <a:rPr lang="en-US" sz="7891">
                <a:solidFill>
                  <a:srgbClr val="1B1B1B"/>
                </a:solidFill>
                <a:latin typeface="Amsterdam Two"/>
                <a:ea typeface="Amsterdam Two"/>
                <a:cs typeface="Amsterdam Two"/>
                <a:sym typeface="Amsterdam Two"/>
              </a:rPr>
              <a:t>Thank You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436757" y="8665418"/>
            <a:ext cx="6613546" cy="40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sz="2425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www.linkedin.com/in/rajasree-samala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627218" y="954724"/>
            <a:ext cx="6613546" cy="40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6"/>
              </a:lnSpc>
              <a:spcBef>
                <a:spcPct val="0"/>
              </a:spcBef>
            </a:pPr>
            <a:r>
              <a:rPr lang="en-US" sz="2425">
                <a:solidFill>
                  <a:srgbClr val="1B1B1B"/>
                </a:solidFill>
                <a:latin typeface="Canva Sans"/>
                <a:ea typeface="Canva Sans"/>
                <a:cs typeface="Canva Sans"/>
                <a:sym typeface="Canva Sans"/>
              </a:rPr>
              <a:t>github.com/Rajasree37-pixel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DAG6XYrUHTw</dc:identifier>
  <dcterms:modified xsi:type="dcterms:W3CDTF">2011-08-01T06:04:30Z</dcterms:modified>
  <cp:revision>1</cp:revision>
  <dc:title>Data-Driven Infographic Roadmap Presentation</dc:title>
</cp:coreProperties>
</file>